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3" name="Shape 1"/>
          <p:cNvSpPr/>
          <p:nvPr/>
        </p:nvSpPr>
        <p:spPr>
          <a:xfrm>
            <a:off x="7406640" y="0"/>
            <a:ext cx="4754880" cy="6858000"/>
          </a:xfrm>
          <a:prstGeom prst="rect">
            <a:avLst/>
          </a:prstGeom>
          <a:solidFill>
            <a:srgbClr val="13243F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D4A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 ·  REVENUE INTELLIGENCE PLATFORM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2057400"/>
            <a:ext cx="10058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7F8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One Laptop to</a:t>
            </a:r>
            <a:endParaRPr lang="en-US" sz="5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7F8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Always-On Intelligence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the Hotel Revenue Pipeline to the Cloud with Airflow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5532120"/>
            <a:ext cx="3657600" cy="0"/>
          </a:xfrm>
          <a:prstGeom prst="line">
            <a:avLst/>
          </a:prstGeom>
          <a:noFill/>
          <a:ln w="25400">
            <a:solidFill>
              <a:srgbClr val="D4A4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623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Intelligence Team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Review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292608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93192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4A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STAND TODAY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0A14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turned 7 hotels of scattered PDFs into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0A14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source of truth.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65176" y="2331720"/>
            <a:ext cx="21945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A1428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65176" y="2331720"/>
            <a:ext cx="2194560" cy="73152"/>
          </a:xfrm>
          <a:prstGeom prst="rect">
            <a:avLst/>
          </a:prstGeom>
          <a:solidFill>
            <a:srgbClr val="0A1428"/>
          </a:solidFill>
          <a:ln/>
        </p:spPr>
      </p:sp>
      <p:sp>
        <p:nvSpPr>
          <p:cNvPr id="7" name="Text 5"/>
          <p:cNvSpPr/>
          <p:nvPr/>
        </p:nvSpPr>
        <p:spPr>
          <a:xfrm>
            <a:off x="265176" y="254203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14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56616" y="3383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 LIVE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24328" y="2331720"/>
            <a:ext cx="21945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A1428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24328" y="2331720"/>
            <a:ext cx="2194560" cy="73152"/>
          </a:xfrm>
          <a:prstGeom prst="rect">
            <a:avLst/>
          </a:prstGeom>
          <a:solidFill>
            <a:srgbClr val="0A1428"/>
          </a:solidFill>
          <a:ln/>
        </p:spPr>
      </p:sp>
      <p:sp>
        <p:nvSpPr>
          <p:cNvPr id="11" name="Text 9"/>
          <p:cNvSpPr/>
          <p:nvPr/>
        </p:nvSpPr>
        <p:spPr>
          <a:xfrm>
            <a:off x="2624328" y="254203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14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53,740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715768" y="3383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TRACKED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983480" y="2331720"/>
            <a:ext cx="21945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A1428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83480" y="2331720"/>
            <a:ext cx="2194560" cy="73152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15" name="Text 13"/>
          <p:cNvSpPr/>
          <p:nvPr/>
        </p:nvSpPr>
        <p:spPr>
          <a:xfrm>
            <a:off x="4983480" y="254203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A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฿340M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074920" y="3383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UNDER MANAGEMENT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42632" y="2331720"/>
            <a:ext cx="21945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A1428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42632" y="2331720"/>
            <a:ext cx="2194560" cy="73152"/>
          </a:xfrm>
          <a:prstGeom prst="rect">
            <a:avLst/>
          </a:prstGeom>
          <a:solidFill>
            <a:srgbClr val="0A1428"/>
          </a:solidFill>
          <a:ln/>
        </p:spPr>
      </p:sp>
      <p:sp>
        <p:nvSpPr>
          <p:cNvPr id="19" name="Text 17"/>
          <p:cNvSpPr/>
          <p:nvPr/>
        </p:nvSpPr>
        <p:spPr>
          <a:xfrm>
            <a:off x="7342632" y="254203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14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฿50.9M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7434072" y="3383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 COMMISSION VISIBLE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701784" y="2331720"/>
            <a:ext cx="21945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A1428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701784" y="2331720"/>
            <a:ext cx="2194560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3" name="Text 21"/>
          <p:cNvSpPr/>
          <p:nvPr/>
        </p:nvSpPr>
        <p:spPr>
          <a:xfrm>
            <a:off x="9701784" y="254203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9793224" y="3383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COVERAGE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38912" y="4160520"/>
            <a:ext cx="2697480" cy="1463040"/>
          </a:xfrm>
          <a:prstGeom prst="rect">
            <a:avLst/>
          </a:prstGeom>
          <a:solidFill>
            <a:srgbClr val="0A1428"/>
          </a:solidFill>
          <a:ln/>
        </p:spPr>
      </p:sp>
      <p:sp>
        <p:nvSpPr>
          <p:cNvPr id="26" name="Shape 24"/>
          <p:cNvSpPr/>
          <p:nvPr/>
        </p:nvSpPr>
        <p:spPr>
          <a:xfrm>
            <a:off x="667512" y="4370832"/>
            <a:ext cx="502920" cy="502920"/>
          </a:xfrm>
          <a:prstGeom prst="ellipse">
            <a:avLst/>
          </a:prstGeom>
          <a:solidFill>
            <a:srgbClr val="D4A437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453128"/>
            <a:ext cx="338328" cy="338328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307592" y="43434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PDF parsing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307592" y="473659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RS02 · RS03 · ST14 — daily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1307592" y="5166360"/>
            <a:ext cx="914400" cy="0"/>
          </a:xfrm>
          <a:prstGeom prst="line">
            <a:avLst/>
          </a:prstGeom>
          <a:noFill/>
          <a:ln w="19050">
            <a:solidFill>
              <a:srgbClr val="D4A43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307592" y="52303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D4A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· IN PRODUCTION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3300984" y="4160520"/>
            <a:ext cx="2697480" cy="1463040"/>
          </a:xfrm>
          <a:prstGeom prst="rect">
            <a:avLst/>
          </a:prstGeom>
          <a:solidFill>
            <a:srgbClr val="0A1428"/>
          </a:solidFill>
          <a:ln/>
        </p:spPr>
      </p:sp>
      <p:sp>
        <p:nvSpPr>
          <p:cNvPr id="33" name="Shape 30"/>
          <p:cNvSpPr/>
          <p:nvPr/>
        </p:nvSpPr>
        <p:spPr>
          <a:xfrm>
            <a:off x="3529584" y="4370832"/>
            <a:ext cx="502920" cy="502920"/>
          </a:xfrm>
          <a:prstGeom prst="ellipse">
            <a:avLst/>
          </a:prstGeom>
          <a:solidFill>
            <a:srgbClr val="D4A437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4453128"/>
            <a:ext cx="338328" cy="338328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4169664" y="43434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analytics (dbt)</a:t>
            </a:r>
            <a:endParaRPr lang="en-US" sz="1400" dirty="0"/>
          </a:p>
        </p:txBody>
      </p:sp>
      <p:sp>
        <p:nvSpPr>
          <p:cNvPr id="36" name="Text 32"/>
          <p:cNvSpPr/>
          <p:nvPr/>
        </p:nvSpPr>
        <p:spPr>
          <a:xfrm>
            <a:off x="4169664" y="473659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→ Intermediate → Mart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4169664" y="5166360"/>
            <a:ext cx="914400" cy="0"/>
          </a:xfrm>
          <a:prstGeom prst="line">
            <a:avLst/>
          </a:prstGeom>
          <a:noFill/>
          <a:ln w="19050">
            <a:solidFill>
              <a:srgbClr val="D4A437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4169664" y="52303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D4A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· IN PRODUCTION</a:t>
            </a:r>
            <a:endParaRPr lang="en-US" sz="850" dirty="0"/>
          </a:p>
        </p:txBody>
      </p:sp>
      <p:sp>
        <p:nvSpPr>
          <p:cNvPr id="39" name="Shape 35"/>
          <p:cNvSpPr/>
          <p:nvPr/>
        </p:nvSpPr>
        <p:spPr>
          <a:xfrm>
            <a:off x="6163056" y="4160520"/>
            <a:ext cx="2697480" cy="1463040"/>
          </a:xfrm>
          <a:prstGeom prst="rect">
            <a:avLst/>
          </a:prstGeom>
          <a:solidFill>
            <a:srgbClr val="0A1428"/>
          </a:solidFill>
          <a:ln/>
        </p:spPr>
      </p:sp>
      <p:sp>
        <p:nvSpPr>
          <p:cNvPr id="40" name="Shape 36"/>
          <p:cNvSpPr/>
          <p:nvPr/>
        </p:nvSpPr>
        <p:spPr>
          <a:xfrm>
            <a:off x="6391656" y="4370832"/>
            <a:ext cx="502920" cy="502920"/>
          </a:xfrm>
          <a:prstGeom prst="ellipse">
            <a:avLst/>
          </a:prstGeom>
          <a:solidFill>
            <a:srgbClr val="D4A437"/>
          </a:solidFill>
          <a:ln/>
        </p:spPr>
      </p:sp>
      <p:pic>
        <p:nvPicPr>
          <p:cNvPr id="4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4453128"/>
            <a:ext cx="338328" cy="338328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7031736" y="43434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+ commission</a:t>
            </a:r>
            <a:endParaRPr lang="en-US" sz="1400" dirty="0"/>
          </a:p>
        </p:txBody>
      </p:sp>
      <p:sp>
        <p:nvSpPr>
          <p:cNvPr id="43" name="Text 38"/>
          <p:cNvSpPr/>
          <p:nvPr/>
        </p:nvSpPr>
        <p:spPr>
          <a:xfrm>
            <a:off x="7031736" y="473659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OTA, per hotel, daily</a:t>
            </a:r>
            <a:endParaRPr lang="en-US" sz="1100" dirty="0"/>
          </a:p>
        </p:txBody>
      </p:sp>
      <p:sp>
        <p:nvSpPr>
          <p:cNvPr id="44" name="Shape 39"/>
          <p:cNvSpPr/>
          <p:nvPr/>
        </p:nvSpPr>
        <p:spPr>
          <a:xfrm>
            <a:off x="7031736" y="5166360"/>
            <a:ext cx="914400" cy="0"/>
          </a:xfrm>
          <a:prstGeom prst="line">
            <a:avLst/>
          </a:prstGeom>
          <a:noFill/>
          <a:ln w="19050">
            <a:solidFill>
              <a:srgbClr val="D4A437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7031736" y="52303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D4A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· IN PRODUCTION</a:t>
            </a:r>
            <a:endParaRPr lang="en-US" sz="850" dirty="0"/>
          </a:p>
        </p:txBody>
      </p:sp>
      <p:sp>
        <p:nvSpPr>
          <p:cNvPr id="46" name="Shape 41"/>
          <p:cNvSpPr/>
          <p:nvPr/>
        </p:nvSpPr>
        <p:spPr>
          <a:xfrm>
            <a:off x="9025128" y="4160520"/>
            <a:ext cx="2697480" cy="1463040"/>
          </a:xfrm>
          <a:prstGeom prst="rect">
            <a:avLst/>
          </a:prstGeom>
          <a:solidFill>
            <a:srgbClr val="0A1428"/>
          </a:solidFill>
          <a:ln/>
        </p:spPr>
      </p:sp>
      <p:sp>
        <p:nvSpPr>
          <p:cNvPr id="47" name="Shape 42"/>
          <p:cNvSpPr/>
          <p:nvPr/>
        </p:nvSpPr>
        <p:spPr>
          <a:xfrm>
            <a:off x="9253728" y="4370832"/>
            <a:ext cx="502920" cy="502920"/>
          </a:xfrm>
          <a:prstGeom prst="ellipse">
            <a:avLst/>
          </a:prstGeom>
          <a:solidFill>
            <a:srgbClr val="D4A437"/>
          </a:solidFill>
          <a:ln/>
        </p:spPr>
      </p:sp>
      <p:pic>
        <p:nvPicPr>
          <p:cNvPr id="4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6024" y="4453128"/>
            <a:ext cx="338328" cy="338328"/>
          </a:xfrm>
          <a:prstGeom prst="rect">
            <a:avLst/>
          </a:prstGeom>
        </p:spPr>
      </p:pic>
      <p:sp>
        <p:nvSpPr>
          <p:cNvPr id="49" name="Text 43"/>
          <p:cNvSpPr/>
          <p:nvPr/>
        </p:nvSpPr>
        <p:spPr>
          <a:xfrm>
            <a:off x="9893808" y="43434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snapshot model</a:t>
            </a:r>
            <a:endParaRPr lang="en-US" sz="1400" dirty="0"/>
          </a:p>
        </p:txBody>
      </p:sp>
      <p:sp>
        <p:nvSpPr>
          <p:cNvPr id="50" name="Text 44"/>
          <p:cNvSpPr/>
          <p:nvPr/>
        </p:nvSpPr>
        <p:spPr>
          <a:xfrm>
            <a:off x="9893808" y="473659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pace and pickup tracked</a:t>
            </a:r>
            <a:endParaRPr lang="en-US" sz="1100" dirty="0"/>
          </a:p>
        </p:txBody>
      </p:sp>
      <p:sp>
        <p:nvSpPr>
          <p:cNvPr id="51" name="Shape 45"/>
          <p:cNvSpPr/>
          <p:nvPr/>
        </p:nvSpPr>
        <p:spPr>
          <a:xfrm>
            <a:off x="9893808" y="5166360"/>
            <a:ext cx="914400" cy="0"/>
          </a:xfrm>
          <a:prstGeom prst="line">
            <a:avLst/>
          </a:prstGeom>
          <a:noFill/>
          <a:ln w="19050">
            <a:solidFill>
              <a:srgbClr val="D4A437"/>
            </a:solidFill>
            <a:prstDash val="solid"/>
          </a:ln>
        </p:spPr>
      </p:sp>
      <p:sp>
        <p:nvSpPr>
          <p:cNvPr id="52" name="Text 46"/>
          <p:cNvSpPr/>
          <p:nvPr/>
        </p:nvSpPr>
        <p:spPr>
          <a:xfrm>
            <a:off x="9893808" y="52303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D4A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· IN PRODUCTION</a:t>
            </a:r>
            <a:endParaRPr lang="en-US" sz="850" dirty="0"/>
          </a:p>
        </p:txBody>
      </p:sp>
      <p:sp>
        <p:nvSpPr>
          <p:cNvPr id="53" name="Text 47"/>
          <p:cNvSpPr/>
          <p:nvPr/>
        </p:nvSpPr>
        <p:spPr>
          <a:xfrm>
            <a:off x="457200" y="58978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foundation is real. The question now is reach.</a:t>
            </a:r>
            <a:endParaRPr lang="en-US" sz="1800" dirty="0"/>
          </a:p>
        </p:txBody>
      </p:sp>
      <p:sp>
        <p:nvSpPr>
          <p:cNvPr id="54" name="Text 48"/>
          <p:cNvSpPr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REVENUE INTELLIGENCE  |  CLOUD MIGRATION PROPOSAL</a:t>
            </a:r>
            <a:endParaRPr lang="en-US" sz="900" dirty="0"/>
          </a:p>
        </p:txBody>
      </p:sp>
      <p:sp>
        <p:nvSpPr>
          <p:cNvPr id="55" name="Text 49"/>
          <p:cNvSpPr/>
          <p:nvPr/>
        </p:nvSpPr>
        <p:spPr>
          <a:xfrm>
            <a:off x="10789920" y="65653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292608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93192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4A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4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that intelligence lives on one laptop.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morning, one machine must be awake, online, and unlocked — or the team flies blind.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09160" y="2468880"/>
            <a:ext cx="2743200" cy="2194560"/>
          </a:xfrm>
          <a:prstGeom prst="rect">
            <a:avLst/>
          </a:prstGeom>
          <a:solidFill>
            <a:srgbClr val="0A1428"/>
          </a:solidFill>
          <a:ln/>
          <a:effectLst>
            <a:outerShdw sx="100000" sy="100000" kx="0" ky="0" algn="bl" rotWithShape="0" blurRad="228600" dist="508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715000" y="2606040"/>
            <a:ext cx="731520" cy="731520"/>
          </a:xfrm>
          <a:prstGeom prst="ellipse">
            <a:avLst/>
          </a:prstGeom>
          <a:solidFill>
            <a:srgbClr val="F9706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274320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709160" y="34564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500" kern="0" dirty="0">
                <a:solidFill>
                  <a:srgbClr val="D4A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LAPTOP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709160" y="3840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8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 point of failure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709160" y="4206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entire revenue function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2331720"/>
            <a:ext cx="34747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52400" dist="38100" dir="5400000">
              <a:srgbClr val="0A1428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2331720"/>
            <a:ext cx="91440" cy="1691640"/>
          </a:xfrm>
          <a:prstGeom prst="rect">
            <a:avLst/>
          </a:prstGeom>
          <a:solidFill>
            <a:srgbClr val="F9706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532888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80160" y="249631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laptop sleeps, the pipeline dies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731520" y="31546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team member can recover it remotely. Numbers go stale.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229600" y="2331720"/>
            <a:ext cx="34747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52400" dist="38100" dir="5400000">
              <a:srgbClr val="0A1428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229600" y="2331720"/>
            <a:ext cx="91440" cy="1691640"/>
          </a:xfrm>
          <a:prstGeom prst="rect">
            <a:avLst/>
          </a:prstGeom>
          <a:solidFill>
            <a:srgbClr val="F9706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532888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052560" y="249631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remote access for revenue managers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8503920" y="31546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over chat. No live drill-down. No mobile.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457200" y="4160520"/>
            <a:ext cx="34747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52400" dist="38100" dir="5400000">
              <a:srgbClr val="0A1428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57200" y="4160520"/>
            <a:ext cx="91440" cy="1691640"/>
          </a:xfrm>
          <a:prstGeom prst="rect">
            <a:avLst/>
          </a:prstGeom>
          <a:solidFill>
            <a:srgbClr val="F97066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361688"/>
            <a:ext cx="411480" cy="4114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280160" y="432511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run every morning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731520" y="49834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clicks a .bat file. If they forget — no report.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8229600" y="4160520"/>
            <a:ext cx="34747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52400" dist="38100" dir="5400000">
              <a:srgbClr val="0A1428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8229600" y="4160520"/>
            <a:ext cx="91440" cy="1691640"/>
          </a:xfrm>
          <a:prstGeom prst="rect">
            <a:avLst/>
          </a:prstGeom>
          <a:solidFill>
            <a:srgbClr val="F97066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4361688"/>
            <a:ext cx="411480" cy="41148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052560" y="432511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alerts, no audit trail</a:t>
            </a:r>
            <a:endParaRPr lang="en-US" sz="1350" dirty="0"/>
          </a:p>
        </p:txBody>
      </p:sp>
      <p:sp>
        <p:nvSpPr>
          <p:cNvPr id="31" name="Text 24"/>
          <p:cNvSpPr/>
          <p:nvPr/>
        </p:nvSpPr>
        <p:spPr>
          <a:xfrm>
            <a:off x="8503920" y="49834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are silent. Yesterday's run isn't reproducible.</a:t>
            </a:r>
            <a:endParaRPr lang="en-US" sz="1150" dirty="0"/>
          </a:p>
        </p:txBody>
      </p:sp>
      <p:sp>
        <p:nvSpPr>
          <p:cNvPr id="32" name="Text 25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970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Right now, our revenue intelligence is one cup of coffee away from disaster.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REVENUE INTELLIGENCE  |  CLOUD MIGRATION PROPOSAL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10789920" y="65653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292608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93192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4A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COST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4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'good enough today' actually costs the team.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1247120" cy="457200"/>
          </a:xfrm>
          <a:prstGeom prst="rect">
            <a:avLst/>
          </a:prstGeom>
          <a:solidFill>
            <a:srgbClr val="0A1428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28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AREA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91840" y="1828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589520" y="1828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MIGRATION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112471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432304"/>
            <a:ext cx="411480" cy="411480"/>
          </a:xfrm>
          <a:prstGeom prst="ellipse">
            <a:avLst/>
          </a:prstGeom>
          <a:solidFill>
            <a:srgbClr val="0A1428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505456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88720" y="22860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meetings</a:t>
            </a:r>
            <a:endParaRPr lang="en-US" sz="13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2532888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11880" y="22860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screenshots from one person</a:t>
            </a:r>
            <a:endParaRPr lang="en-US" sz="12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532888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909560" y="22860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opens the same live view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57200" y="2999232"/>
            <a:ext cx="11247120" cy="640080"/>
          </a:xfrm>
          <a:prstGeom prst="rect">
            <a:avLst/>
          </a:prstGeom>
          <a:solidFill>
            <a:srgbClr val="EE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40080" y="3145536"/>
            <a:ext cx="411480" cy="411480"/>
          </a:xfrm>
          <a:prstGeom prst="ellipse">
            <a:avLst/>
          </a:prstGeom>
          <a:solidFill>
            <a:srgbClr val="0A1428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3218688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88720" y="29992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Out-of-hours alerts</a:t>
            </a:r>
            <a:endParaRPr lang="en-US" sz="135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0" y="3246120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611880" y="299923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knows pickup dropped overnight</a:t>
            </a:r>
            <a:endParaRPr lang="en-US" sz="12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0" y="3246120"/>
            <a:ext cx="256032" cy="25603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909560" y="299923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email if pickup &lt; threshold</a:t>
            </a:r>
            <a:endParaRPr lang="en-US" sz="1200" dirty="0"/>
          </a:p>
        </p:txBody>
      </p:sp>
      <p:sp>
        <p:nvSpPr>
          <p:cNvPr id="25" name="Shape 17"/>
          <p:cNvSpPr/>
          <p:nvPr/>
        </p:nvSpPr>
        <p:spPr>
          <a:xfrm>
            <a:off x="457200" y="3712464"/>
            <a:ext cx="112471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640080" y="3858768"/>
            <a:ext cx="411480" cy="411480"/>
          </a:xfrm>
          <a:prstGeom prst="ellipse">
            <a:avLst/>
          </a:prstGeom>
          <a:solidFill>
            <a:srgbClr val="0A1428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" y="3931920"/>
            <a:ext cx="274320" cy="27432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1188720" y="3712464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failures</a:t>
            </a:r>
            <a:endParaRPr lang="en-US" sz="135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91840" y="3959352"/>
            <a:ext cx="256032" cy="256032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3611880" y="3712464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Discovered next morning, manually</a:t>
            </a:r>
            <a:endParaRPr lang="en-US" sz="1200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89520" y="3959352"/>
            <a:ext cx="256032" cy="256032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7909560" y="3712464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ping within 60 seconds</a:t>
            </a:r>
            <a:endParaRPr lang="en-US" sz="1200" dirty="0"/>
          </a:p>
        </p:txBody>
      </p:sp>
      <p:sp>
        <p:nvSpPr>
          <p:cNvPr id="33" name="Shape 22"/>
          <p:cNvSpPr/>
          <p:nvPr/>
        </p:nvSpPr>
        <p:spPr>
          <a:xfrm>
            <a:off x="457200" y="4425696"/>
            <a:ext cx="11247120" cy="640080"/>
          </a:xfrm>
          <a:prstGeom prst="rect">
            <a:avLst/>
          </a:prstGeom>
          <a:solidFill>
            <a:srgbClr val="EE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23"/>
          <p:cNvSpPr/>
          <p:nvPr/>
        </p:nvSpPr>
        <p:spPr>
          <a:xfrm>
            <a:off x="640080" y="4572000"/>
            <a:ext cx="411480" cy="411480"/>
          </a:xfrm>
          <a:prstGeom prst="ellipse">
            <a:avLst/>
          </a:prstGeom>
          <a:solidFill>
            <a:srgbClr val="0A1428"/>
          </a:solidFill>
          <a:ln/>
        </p:spPr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3232" y="4645152"/>
            <a:ext cx="274320" cy="274320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1188720" y="4425696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to 10 hotels</a:t>
            </a:r>
            <a:endParaRPr lang="en-US" sz="1350" dirty="0"/>
          </a:p>
        </p:txBody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91840" y="4672584"/>
            <a:ext cx="256032" cy="256032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3611880" y="442569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one laptop. Same one person.</a:t>
            </a:r>
            <a:endParaRPr lang="en-US" sz="1200" dirty="0"/>
          </a:p>
        </p:txBody>
      </p:sp>
      <p:pic>
        <p:nvPicPr>
          <p:cNvPr id="3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89520" y="4672584"/>
            <a:ext cx="256032" cy="256032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7909560" y="442569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architecture. Zero extra effort.</a:t>
            </a:r>
            <a:endParaRPr lang="en-US" sz="1200" dirty="0"/>
          </a:p>
        </p:txBody>
      </p:sp>
      <p:sp>
        <p:nvSpPr>
          <p:cNvPr id="41" name="Shape 27"/>
          <p:cNvSpPr/>
          <p:nvPr/>
        </p:nvSpPr>
        <p:spPr>
          <a:xfrm>
            <a:off x="457200" y="5138928"/>
            <a:ext cx="112471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Shape 28"/>
          <p:cNvSpPr/>
          <p:nvPr/>
        </p:nvSpPr>
        <p:spPr>
          <a:xfrm>
            <a:off x="640080" y="5285232"/>
            <a:ext cx="411480" cy="411480"/>
          </a:xfrm>
          <a:prstGeom prst="ellipse">
            <a:avLst/>
          </a:prstGeom>
          <a:solidFill>
            <a:srgbClr val="0A1428"/>
          </a:solidFill>
          <a:ln/>
        </p:spPr>
      </p:sp>
      <p:pic>
        <p:nvPicPr>
          <p:cNvPr id="4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3232" y="5358384"/>
            <a:ext cx="274320" cy="274320"/>
          </a:xfrm>
          <a:prstGeom prst="rect">
            <a:avLst/>
          </a:prstGeom>
        </p:spPr>
      </p:pic>
      <p:sp>
        <p:nvSpPr>
          <p:cNvPr id="44" name="Text 29"/>
          <p:cNvSpPr/>
          <p:nvPr/>
        </p:nvSpPr>
        <p:spPr>
          <a:xfrm>
            <a:off x="1188720" y="513892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Backfilling history</a:t>
            </a:r>
            <a:endParaRPr lang="en-US" sz="1350" dirty="0"/>
          </a:p>
        </p:txBody>
      </p:sp>
      <p:pic>
        <p:nvPicPr>
          <p:cNvPr id="4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91840" y="5385816"/>
            <a:ext cx="256032" cy="256032"/>
          </a:xfrm>
          <a:prstGeom prst="rect">
            <a:avLst/>
          </a:prstGeom>
        </p:spPr>
      </p:pic>
      <p:sp>
        <p:nvSpPr>
          <p:cNvPr id="46" name="Text 30"/>
          <p:cNvSpPr/>
          <p:nvPr/>
        </p:nvSpPr>
        <p:spPr>
          <a:xfrm>
            <a:off x="3611880" y="513892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30 .bat files by hand</a:t>
            </a:r>
            <a:endParaRPr lang="en-US" sz="1200" dirty="0"/>
          </a:p>
        </p:txBody>
      </p:sp>
      <p:pic>
        <p:nvPicPr>
          <p:cNvPr id="4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89520" y="5385816"/>
            <a:ext cx="256032" cy="256032"/>
          </a:xfrm>
          <a:prstGeom prst="rect">
            <a:avLst/>
          </a:prstGeom>
        </p:spPr>
      </p:pic>
      <p:sp>
        <p:nvSpPr>
          <p:cNvPr id="48" name="Text 31"/>
          <p:cNvSpPr/>
          <p:nvPr/>
        </p:nvSpPr>
        <p:spPr>
          <a:xfrm>
            <a:off x="7909560" y="513892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click. 30 days re-processed.</a:t>
            </a:r>
            <a:endParaRPr lang="en-US" sz="1200" dirty="0"/>
          </a:p>
        </p:txBody>
      </p:sp>
      <p:sp>
        <p:nvSpPr>
          <p:cNvPr id="49" name="Text 32"/>
          <p:cNvSpPr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day on the old setup is a day the team is one click away from a blackout.</a:t>
            </a:r>
            <a:endParaRPr lang="en-US" sz="1400" dirty="0"/>
          </a:p>
        </p:txBody>
      </p:sp>
      <p:sp>
        <p:nvSpPr>
          <p:cNvPr id="50" name="Text 33"/>
          <p:cNvSpPr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REVENUE INTELLIGENCE  |  CLOUD MIGRATION PROPOSAL</a:t>
            </a:r>
            <a:endParaRPr lang="en-US" sz="900" dirty="0"/>
          </a:p>
        </p:txBody>
      </p:sp>
      <p:sp>
        <p:nvSpPr>
          <p:cNvPr id="51" name="Text 34"/>
          <p:cNvSpPr/>
          <p:nvPr/>
        </p:nvSpPr>
        <p:spPr>
          <a:xfrm>
            <a:off x="10789920" y="65653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292608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93192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4A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8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platform. Every hotel. Always on.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managers, GMs, and executives — same numbers, same minute, anywhere.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3566160" cy="3200400"/>
          </a:xfrm>
          <a:prstGeom prst="rect">
            <a:avLst/>
          </a:prstGeom>
          <a:solidFill>
            <a:srgbClr val="1324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743200"/>
            <a:ext cx="3566160" cy="54864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8" name="Shape 6"/>
          <p:cNvSpPr/>
          <p:nvPr/>
        </p:nvSpPr>
        <p:spPr>
          <a:xfrm>
            <a:off x="1783080" y="3017520"/>
            <a:ext cx="914400" cy="914400"/>
          </a:xfrm>
          <a:prstGeom prst="ellipse">
            <a:avLst/>
          </a:prstGeom>
          <a:solidFill>
            <a:srgbClr val="0A1428"/>
          </a:solidFill>
          <a:ln w="25400">
            <a:solidFill>
              <a:srgbClr val="D4A437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5960" y="3200400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40690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7F8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Always On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457200" y="4572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D4A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laptop dependency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2960" y="49834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runs in the cloud, on a schedule. If our office loses power, the data still updates.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297680" y="2743200"/>
            <a:ext cx="3566160" cy="3200400"/>
          </a:xfrm>
          <a:prstGeom prst="rect">
            <a:avLst/>
          </a:prstGeom>
          <a:solidFill>
            <a:srgbClr val="1324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297680" y="2743200"/>
            <a:ext cx="3566160" cy="54864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15" name="Shape 12"/>
          <p:cNvSpPr/>
          <p:nvPr/>
        </p:nvSpPr>
        <p:spPr>
          <a:xfrm>
            <a:off x="5623560" y="3017520"/>
            <a:ext cx="914400" cy="914400"/>
          </a:xfrm>
          <a:prstGeom prst="ellipse">
            <a:avLst/>
          </a:prstGeom>
          <a:solidFill>
            <a:srgbClr val="0A1428"/>
          </a:solidFill>
          <a:ln w="25400">
            <a:solidFill>
              <a:srgbClr val="D4A437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3200400"/>
            <a:ext cx="548640" cy="5486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297680" y="40690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7F8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Always Accessible</a:t>
            </a:r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4297680" y="4572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D4A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Phone, tablet, anywhere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663440" y="49834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authorized user opens a URL. No VPN. No screenshots. Same numbers everywhere.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8138160" y="2743200"/>
            <a:ext cx="3566160" cy="3200400"/>
          </a:xfrm>
          <a:prstGeom prst="rect">
            <a:avLst/>
          </a:prstGeom>
          <a:solidFill>
            <a:srgbClr val="1324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138160" y="2743200"/>
            <a:ext cx="3566160" cy="54864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22" name="Shape 18"/>
          <p:cNvSpPr/>
          <p:nvPr/>
        </p:nvSpPr>
        <p:spPr>
          <a:xfrm>
            <a:off x="9464040" y="3017520"/>
            <a:ext cx="914400" cy="914400"/>
          </a:xfrm>
          <a:prstGeom prst="ellipse">
            <a:avLst/>
          </a:prstGeom>
          <a:solidFill>
            <a:srgbClr val="0A1428"/>
          </a:solidFill>
          <a:ln w="25400">
            <a:solidFill>
              <a:srgbClr val="D4A437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3200400"/>
            <a:ext cx="548640" cy="54864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138160" y="40690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7F8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Always Accountable</a:t>
            </a:r>
            <a:endParaRPr lang="en-US" sz="2400" dirty="0"/>
          </a:p>
        </p:txBody>
      </p:sp>
      <p:sp>
        <p:nvSpPr>
          <p:cNvPr id="25" name="Text 20"/>
          <p:cNvSpPr/>
          <p:nvPr/>
        </p:nvSpPr>
        <p:spPr>
          <a:xfrm>
            <a:off x="8138160" y="4572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D4A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logged, every error alerted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8503920" y="49834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ping a channel within 60 seconds. Every metric is reproducible.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D4A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isn't a 'nice to have.' It's the difference between a side project and a business platform.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REVENUE INTELLIGENCE  |  CLOUD MIGRATION PROPOSAL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10789920" y="65653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292608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93192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4A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  ·  CLOUD DATA WAREHOUSE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4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 the warehouse to the cloud.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SQL. Same dbt models. New superpower: every authorized user shares one live database.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4206240" cy="4023360"/>
          </a:xfrm>
          <a:prstGeom prst="rect">
            <a:avLst/>
          </a:prstGeom>
          <a:solidFill>
            <a:srgbClr val="0A1428"/>
          </a:solidFill>
          <a:ln/>
          <a:effectLst>
            <a:outerShdw sx="100000" sy="100000" kx="0" ky="0" algn="bl" rotWithShape="0" blurRad="228600" dist="508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331720"/>
            <a:ext cx="4206240" cy="73152"/>
          </a:xfrm>
          <a:prstGeom prst="rect">
            <a:avLst/>
          </a:prstGeom>
          <a:solidFill>
            <a:srgbClr val="D4A43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2606040"/>
            <a:ext cx="1554480" cy="1554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42976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F8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Warehouse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57200" y="4754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D4A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MotherDuck  ·  BigQuery  ·  AWS Athena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52120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Battle-tested platforms used by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Netflix, Airbnb, Booking.com,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every major hotel group.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937760" y="2331720"/>
            <a:ext cx="67665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A1428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074920" y="2478024"/>
            <a:ext cx="420624" cy="420624"/>
          </a:xfrm>
          <a:prstGeom prst="ellipse">
            <a:avLst/>
          </a:prstGeom>
          <a:solidFill>
            <a:srgbClr val="D4A437"/>
          </a:solidFill>
          <a:ln/>
        </p:spPr>
      </p:sp>
      <p:sp>
        <p:nvSpPr>
          <p:cNvPr id="14" name="Shape 11"/>
          <p:cNvSpPr/>
          <p:nvPr/>
        </p:nvSpPr>
        <p:spPr>
          <a:xfrm>
            <a:off x="4937760" y="3154680"/>
            <a:ext cx="67665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A1428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074920" y="3300984"/>
            <a:ext cx="420624" cy="420624"/>
          </a:xfrm>
          <a:prstGeom prst="ellipse">
            <a:avLst/>
          </a:prstGeom>
          <a:solidFill>
            <a:srgbClr val="D4A437"/>
          </a:solidFill>
          <a:ln/>
        </p:spPr>
      </p:sp>
      <p:sp>
        <p:nvSpPr>
          <p:cNvPr id="16" name="Shape 13"/>
          <p:cNvSpPr/>
          <p:nvPr/>
        </p:nvSpPr>
        <p:spPr>
          <a:xfrm>
            <a:off x="4937760" y="3977640"/>
            <a:ext cx="67665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A1428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074920" y="4123944"/>
            <a:ext cx="420624" cy="420624"/>
          </a:xfrm>
          <a:prstGeom prst="ellipse">
            <a:avLst/>
          </a:prstGeom>
          <a:solidFill>
            <a:srgbClr val="D4A437"/>
          </a:solidFill>
          <a:ln/>
        </p:spPr>
      </p:sp>
      <p:sp>
        <p:nvSpPr>
          <p:cNvPr id="18" name="Shape 15"/>
          <p:cNvSpPr/>
          <p:nvPr/>
        </p:nvSpPr>
        <p:spPr>
          <a:xfrm>
            <a:off x="4937760" y="4800600"/>
            <a:ext cx="67665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A1428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074920" y="4946904"/>
            <a:ext cx="420624" cy="420624"/>
          </a:xfrm>
          <a:prstGeom prst="ellipse">
            <a:avLst/>
          </a:prstGeom>
          <a:solidFill>
            <a:srgbClr val="D4A437"/>
          </a:solidFill>
          <a:ln/>
        </p:spPr>
      </p:sp>
      <p:sp>
        <p:nvSpPr>
          <p:cNvPr id="20" name="Shape 17"/>
          <p:cNvSpPr/>
          <p:nvPr/>
        </p:nvSpPr>
        <p:spPr>
          <a:xfrm>
            <a:off x="4937760" y="5623560"/>
            <a:ext cx="67665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A1428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074920" y="5769864"/>
            <a:ext cx="420624" cy="420624"/>
          </a:xfrm>
          <a:prstGeom prst="ellipse">
            <a:avLst/>
          </a:prstGeom>
          <a:solidFill>
            <a:srgbClr val="D4A437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2542032"/>
            <a:ext cx="292608" cy="29260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623560" y="2368296"/>
            <a:ext cx="5989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simultaneous access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5623560" y="2679192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manager, GM, and accountant can query at the same time — no more 'close DBeaver, I need to update.'</a:t>
            </a:r>
            <a:endParaRPr lang="en-US" sz="105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928" y="3364992"/>
            <a:ext cx="292608" cy="29260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623560" y="3191256"/>
            <a:ext cx="5989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backup + disaster recovery</a:t>
            </a:r>
            <a:endParaRPr lang="en-US" sz="1350" dirty="0"/>
          </a:p>
        </p:txBody>
      </p:sp>
      <p:sp>
        <p:nvSpPr>
          <p:cNvPr id="27" name="Text 22"/>
          <p:cNvSpPr/>
          <p:nvPr/>
        </p:nvSpPr>
        <p:spPr>
          <a:xfrm>
            <a:off x="5623560" y="3502152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snapshots. Six months of history preserved, even if a hotel laptop is stolen.</a:t>
            </a:r>
            <a:endParaRPr lang="en-US" sz="105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8928" y="4187952"/>
            <a:ext cx="292608" cy="29260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623560" y="4014216"/>
            <a:ext cx="5989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phones and tablets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5623560" y="4325112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Glance at occupancy on the way to a meeting. No software install, just a URL.</a:t>
            </a:r>
            <a:endParaRPr lang="en-US" sz="105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8928" y="5010912"/>
            <a:ext cx="292608" cy="29260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623560" y="4837176"/>
            <a:ext cx="5989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security</a:t>
            </a:r>
            <a:endParaRPr lang="en-US" sz="1350" dirty="0"/>
          </a:p>
        </p:txBody>
      </p:sp>
      <p:sp>
        <p:nvSpPr>
          <p:cNvPr id="33" name="Text 26"/>
          <p:cNvSpPr/>
          <p:nvPr/>
        </p:nvSpPr>
        <p:spPr>
          <a:xfrm>
            <a:off x="5623560" y="5148072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at rest and in transit. Role-based access — finance sees commission, GM sees occupancy.</a:t>
            </a:r>
            <a:endParaRPr lang="en-US" sz="1050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8928" y="5833872"/>
            <a:ext cx="292608" cy="29260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5623560" y="5660136"/>
            <a:ext cx="5989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maintenance overhead</a:t>
            </a:r>
            <a:endParaRPr lang="en-US" sz="1350" dirty="0"/>
          </a:p>
        </p:txBody>
      </p:sp>
      <p:sp>
        <p:nvSpPr>
          <p:cNvPr id="36" name="Text 28"/>
          <p:cNvSpPr/>
          <p:nvPr/>
        </p:nvSpPr>
        <p:spPr>
          <a:xfrm>
            <a:off x="5623560" y="5971032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 to patch. No disk to clean. The provider handles uptime — typically 99.9%+.</a:t>
            </a:r>
            <a:endParaRPr lang="en-US" sz="1050" dirty="0"/>
          </a:p>
        </p:txBody>
      </p:sp>
      <p:sp>
        <p:nvSpPr>
          <p:cNvPr id="37" name="Text 29"/>
          <p:cNvSpPr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REVENUE INTELLIGENCE  |  CLOUD MIGRATION PROPOSAL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10789920" y="65653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292608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93192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4A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  ·  AIRFLOW ORCHESTRATION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4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Stop running the pipeline. Let Airflow run it.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industry-standard scheduler used by 80%+ of data teams worldwide.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11247120" cy="594360"/>
          </a:xfrm>
          <a:prstGeom prst="rect">
            <a:avLst/>
          </a:prstGeom>
          <a:solidFill>
            <a:srgbClr val="0A142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33172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22402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running production pipelines at:  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0" y="224028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7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· NETFLIX · BOOKING.COM · LYFT · ADOBE · WALMART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98348" y="2971800"/>
            <a:ext cx="36118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A1428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8348" y="2971800"/>
            <a:ext cx="91440" cy="1508760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12" name="Shape 9"/>
          <p:cNvSpPr/>
          <p:nvPr/>
        </p:nvSpPr>
        <p:spPr>
          <a:xfrm>
            <a:off x="790956" y="3246120"/>
            <a:ext cx="502920" cy="502920"/>
          </a:xfrm>
          <a:prstGeom prst="ellipse">
            <a:avLst/>
          </a:prstGeom>
          <a:solidFill>
            <a:srgbClr val="0A142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" y="3319272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58468" y="32004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Self-running on a schedule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90956" y="384048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every morning at 06:00. Holidays included. Time-zone aware.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274820" y="2971800"/>
            <a:ext cx="36118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A1428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274820" y="2971800"/>
            <a:ext cx="91440" cy="1508760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18" name="Shape 14"/>
          <p:cNvSpPr/>
          <p:nvPr/>
        </p:nvSpPr>
        <p:spPr>
          <a:xfrm>
            <a:off x="4567428" y="3246120"/>
            <a:ext cx="502920" cy="502920"/>
          </a:xfrm>
          <a:prstGeom prst="ellipse">
            <a:avLst/>
          </a:prstGeom>
          <a:solidFill>
            <a:srgbClr val="0A1428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0580" y="3319272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234940" y="32004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Auto-retry on failure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4567428" y="384048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Transient network blip? Airflow retries 3 times with backoff. We sleep through it.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8051292" y="2971800"/>
            <a:ext cx="36118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A1428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051292" y="2971800"/>
            <a:ext cx="91440" cy="1508760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24" name="Shape 19"/>
          <p:cNvSpPr/>
          <p:nvPr/>
        </p:nvSpPr>
        <p:spPr>
          <a:xfrm>
            <a:off x="8343900" y="3246120"/>
            <a:ext cx="502920" cy="502920"/>
          </a:xfrm>
          <a:prstGeom prst="ellipse">
            <a:avLst/>
          </a:prstGeom>
          <a:solidFill>
            <a:srgbClr val="0A1428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7052" y="3319272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011412" y="32004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8343900" y="384048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or email the moment anything breaks. No more 'oh, the data didn't update.'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498348" y="4645152"/>
            <a:ext cx="36118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A1428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98348" y="4645152"/>
            <a:ext cx="91440" cy="1508760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30" name="Shape 24"/>
          <p:cNvSpPr/>
          <p:nvPr/>
        </p:nvSpPr>
        <p:spPr>
          <a:xfrm>
            <a:off x="790956" y="4919472"/>
            <a:ext cx="502920" cy="502920"/>
          </a:xfrm>
          <a:prstGeom prst="ellipse">
            <a:avLst/>
          </a:prstGeom>
          <a:solidFill>
            <a:srgbClr val="0A1428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08" y="4992624"/>
            <a:ext cx="365760" cy="3657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458468" y="487375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backfill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790956" y="551383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to reprocess last month after a fix? One button. Done in minutes.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4274820" y="4645152"/>
            <a:ext cx="36118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A1428">
                <a:alpha val="1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4274820" y="4645152"/>
            <a:ext cx="91440" cy="1508760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36" name="Shape 29"/>
          <p:cNvSpPr/>
          <p:nvPr/>
        </p:nvSpPr>
        <p:spPr>
          <a:xfrm>
            <a:off x="4567428" y="4919472"/>
            <a:ext cx="502920" cy="502920"/>
          </a:xfrm>
          <a:prstGeom prst="ellipse">
            <a:avLst/>
          </a:prstGeom>
          <a:solidFill>
            <a:srgbClr val="0A1428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0580" y="4992624"/>
            <a:ext cx="365760" cy="36576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5234940" y="487375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pipeline map</a:t>
            </a:r>
            <a:endParaRPr lang="en-US" sz="1400" dirty="0"/>
          </a:p>
        </p:txBody>
      </p:sp>
      <p:sp>
        <p:nvSpPr>
          <p:cNvPr id="39" name="Text 31"/>
          <p:cNvSpPr/>
          <p:nvPr/>
        </p:nvSpPr>
        <p:spPr>
          <a:xfrm>
            <a:off x="4567428" y="551383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every step: PDF → parse → load → dbt → mart. Spot the slow link in seconds.</a:t>
            </a:r>
            <a:endParaRPr lang="en-US" sz="1150" dirty="0"/>
          </a:p>
        </p:txBody>
      </p:sp>
      <p:sp>
        <p:nvSpPr>
          <p:cNvPr id="40" name="Shape 32"/>
          <p:cNvSpPr/>
          <p:nvPr/>
        </p:nvSpPr>
        <p:spPr>
          <a:xfrm>
            <a:off x="8051292" y="4645152"/>
            <a:ext cx="36118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A1428">
                <a:alpha val="10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8051292" y="4645152"/>
            <a:ext cx="91440" cy="1508760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42" name="Shape 34"/>
          <p:cNvSpPr/>
          <p:nvPr/>
        </p:nvSpPr>
        <p:spPr>
          <a:xfrm>
            <a:off x="8343900" y="4919472"/>
            <a:ext cx="502920" cy="502920"/>
          </a:xfrm>
          <a:prstGeom prst="ellipse">
            <a:avLst/>
          </a:prstGeom>
          <a:solidFill>
            <a:srgbClr val="0A1428"/>
          </a:solidFill>
          <a:ln/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7052" y="4992624"/>
            <a:ext cx="365760" cy="365760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9011412" y="487375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400" dirty="0"/>
          </a:p>
        </p:txBody>
      </p:sp>
      <p:sp>
        <p:nvSpPr>
          <p:cNvPr id="45" name="Text 36"/>
          <p:cNvSpPr/>
          <p:nvPr/>
        </p:nvSpPr>
        <p:spPr>
          <a:xfrm>
            <a:off x="8343900" y="551383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run, every log, every output — kept forever. Compliance-ready.</a:t>
            </a:r>
            <a:endParaRPr lang="en-US" sz="1150" dirty="0"/>
          </a:p>
        </p:txBody>
      </p:sp>
      <p:sp>
        <p:nvSpPr>
          <p:cNvPr id="46" name="Text 37"/>
          <p:cNvSpPr/>
          <p:nvPr/>
        </p:nvSpPr>
        <p:spPr>
          <a:xfrm>
            <a:off x="457200" y="619963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D4A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Airflow turns our pipeline from 'someone has to run this' into 'it just runs.'</a:t>
            </a:r>
            <a:endParaRPr lang="en-US" sz="1300" dirty="0"/>
          </a:p>
        </p:txBody>
      </p:sp>
      <p:sp>
        <p:nvSpPr>
          <p:cNvPr id="47" name="Text 38"/>
          <p:cNvSpPr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REVENUE INTELLIGENCE  |  CLOUD MIGRATION PROPOSAL</a:t>
            </a:r>
            <a:endParaRPr lang="en-US" sz="900" dirty="0"/>
          </a:p>
        </p:txBody>
      </p:sp>
      <p:sp>
        <p:nvSpPr>
          <p:cNvPr id="48" name="Text 39"/>
          <p:cNvSpPr/>
          <p:nvPr/>
        </p:nvSpPr>
        <p:spPr>
          <a:xfrm>
            <a:off x="10789920" y="65653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292608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93192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4A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4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 vs. Tomorrow — at a glance.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48640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ECACA"/>
            </a:solidFill>
            <a:prstDash val="solid"/>
          </a:ln>
          <a:effectLst>
            <a:outerShdw sx="100000" sy="100000" kx="0" ky="0" algn="bl" rotWithShape="0" blurRad="152400" dist="38100" dir="5400000">
              <a:srgbClr val="0A1428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828800"/>
            <a:ext cx="5486400" cy="502920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288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2606040"/>
            <a:ext cx="640080" cy="640080"/>
          </a:xfrm>
          <a:prstGeom prst="ellipse">
            <a:avLst/>
          </a:prstGeom>
          <a:solidFill>
            <a:srgbClr val="F97066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3840480"/>
            <a:ext cx="640080" cy="640080"/>
          </a:xfrm>
          <a:prstGeom prst="ellipse">
            <a:avLst/>
          </a:prstGeom>
          <a:solidFill>
            <a:srgbClr val="F97066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5074920"/>
            <a:ext cx="640080" cy="640080"/>
          </a:xfrm>
          <a:prstGeom prst="ellipse">
            <a:avLst/>
          </a:prstGeom>
          <a:solidFill>
            <a:srgbClr val="F97066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706624"/>
            <a:ext cx="438912" cy="4389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600200" y="25603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laptop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600200" y="2971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.bat file every morning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097280" y="3319272"/>
            <a:ext cx="0" cy="41148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3941064"/>
            <a:ext cx="438912" cy="43891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00200" y="37947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on G:\ drive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1600200" y="4206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File-locked, single-writer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1097280" y="4553712"/>
            <a:ext cx="0" cy="411480"/>
          </a:xfrm>
          <a:prstGeom prst="line">
            <a:avLst/>
          </a:prstGeom>
          <a:noFill/>
          <a:ln w="25400">
            <a:solidFill>
              <a:srgbClr val="F97066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5175504"/>
            <a:ext cx="438912" cy="4389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00200" y="50292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600200" y="5440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one person for screenshots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217920" y="1828800"/>
            <a:ext cx="548640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99F6E4"/>
            </a:solidFill>
            <a:prstDash val="solid"/>
          </a:ln>
          <a:effectLst>
            <a:outerShdw sx="100000" sy="100000" kx="0" ky="0" algn="bl" rotWithShape="0" blurRad="152400" dist="38100" dir="5400000">
              <a:srgbClr val="0A1428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217920" y="1828800"/>
            <a:ext cx="5486400" cy="5029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4" name="Text 19"/>
          <p:cNvSpPr/>
          <p:nvPr/>
        </p:nvSpPr>
        <p:spPr>
          <a:xfrm>
            <a:off x="6217920" y="18288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6537960" y="2606040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6" name="Shape 21"/>
          <p:cNvSpPr/>
          <p:nvPr/>
        </p:nvSpPr>
        <p:spPr>
          <a:xfrm>
            <a:off x="6537960" y="3840480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7" name="Shape 22"/>
          <p:cNvSpPr/>
          <p:nvPr/>
        </p:nvSpPr>
        <p:spPr>
          <a:xfrm>
            <a:off x="6537960" y="5074920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544" y="2706624"/>
            <a:ext cx="438912" cy="43891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360920" y="25603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(cloud)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7360920" y="2971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itself daily · alerts on failure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6858000" y="3319272"/>
            <a:ext cx="0" cy="41148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544" y="3941064"/>
            <a:ext cx="438912" cy="43891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360920" y="37947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warehouse</a:t>
            </a:r>
            <a:endParaRPr lang="en-US" sz="1600" dirty="0"/>
          </a:p>
        </p:txBody>
      </p:sp>
      <p:sp>
        <p:nvSpPr>
          <p:cNvPr id="34" name="Text 27"/>
          <p:cNvSpPr/>
          <p:nvPr/>
        </p:nvSpPr>
        <p:spPr>
          <a:xfrm>
            <a:off x="7360920" y="4206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· auto-backup · always on</a:t>
            </a:r>
            <a:endParaRPr lang="en-US" sz="1200" dirty="0"/>
          </a:p>
        </p:txBody>
      </p:sp>
      <p:sp>
        <p:nvSpPr>
          <p:cNvPr id="35" name="Shape 28"/>
          <p:cNvSpPr/>
          <p:nvPr/>
        </p:nvSpPr>
        <p:spPr>
          <a:xfrm>
            <a:off x="6858000" y="4553712"/>
            <a:ext cx="0" cy="41148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544" y="5175504"/>
            <a:ext cx="438912" cy="43891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7360920" y="50292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600" dirty="0"/>
          </a:p>
        </p:txBody>
      </p:sp>
      <p:sp>
        <p:nvSpPr>
          <p:cNvPr id="38" name="Text 30"/>
          <p:cNvSpPr/>
          <p:nvPr/>
        </p:nvSpPr>
        <p:spPr>
          <a:xfrm>
            <a:off x="7360920" y="5440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one URL · live data from any device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457200" y="619963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data. Same business logic. Different reliability class.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REVENUE INTELLIGENCE  |  CLOUD MIGRATION PROPOSAL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10789920" y="65653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292608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93192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4A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4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each role actually gets.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66344" y="1691640"/>
            <a:ext cx="553212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A1428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66344" y="1691640"/>
            <a:ext cx="109728" cy="2057400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" y="1965960"/>
            <a:ext cx="685800" cy="685800"/>
          </a:xfrm>
          <a:prstGeom prst="ellipse">
            <a:avLst/>
          </a:prstGeom>
          <a:solidFill>
            <a:srgbClr val="0A142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93976"/>
            <a:ext cx="429768" cy="4297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9344" y="205740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MANAGER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609344" y="244144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32104" y="283464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pickup + occupancy on a phone every morning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when occupancy drops below threshold — react same-day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 mix breakdown by hotel, ready for the 10:00 huddle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163056" y="1691640"/>
            <a:ext cx="553212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A1428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63056" y="1691640"/>
            <a:ext cx="109728" cy="2057400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14" name="Shape 11"/>
          <p:cNvSpPr/>
          <p:nvPr/>
        </p:nvSpPr>
        <p:spPr>
          <a:xfrm>
            <a:off x="6483096" y="1965960"/>
            <a:ext cx="685800" cy="685800"/>
          </a:xfrm>
          <a:prstGeom prst="ellipse">
            <a:avLst/>
          </a:prstGeom>
          <a:solidFill>
            <a:srgbClr val="0A1428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112" y="2093976"/>
            <a:ext cx="429768" cy="42976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306056" y="205740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MANAGER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7306056" y="244144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6528816" y="283464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Property-level dashboard — no need to ask anyone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own hotel vs. group benchmark live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vs. on-book gap visible by stay-date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466344" y="3913632"/>
            <a:ext cx="553212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A1428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66344" y="3913632"/>
            <a:ext cx="109728" cy="2057400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21" name="Shape 17"/>
          <p:cNvSpPr/>
          <p:nvPr/>
        </p:nvSpPr>
        <p:spPr>
          <a:xfrm>
            <a:off x="786384" y="4187952"/>
            <a:ext cx="685800" cy="685800"/>
          </a:xfrm>
          <a:prstGeom prst="ellipse">
            <a:avLst/>
          </a:prstGeom>
          <a:solidFill>
            <a:srgbClr val="0A1428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315968"/>
            <a:ext cx="429768" cy="42976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609344" y="4279392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/ ACCOUNTING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1609344" y="466344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832104" y="5056632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after commission — calculated, not estimated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 payable reconciliation on-demand, audit-ready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Month-end close: hours instead of days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6163056" y="3913632"/>
            <a:ext cx="553212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A1428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163056" y="3913632"/>
            <a:ext cx="109728" cy="2057400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28" name="Shape 23"/>
          <p:cNvSpPr/>
          <p:nvPr/>
        </p:nvSpPr>
        <p:spPr>
          <a:xfrm>
            <a:off x="6483096" y="4187952"/>
            <a:ext cx="685800" cy="685800"/>
          </a:xfrm>
          <a:prstGeom prst="ellipse">
            <a:avLst/>
          </a:prstGeom>
          <a:solidFill>
            <a:srgbClr val="0A1428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112" y="4315968"/>
            <a:ext cx="429768" cy="42976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306056" y="4279392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TEAM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7306056" y="466344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6528816" y="5056632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KPIs without waiting for a refreshed deck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numbers in every meeting — one source of truth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new properties with zero added overhead</a:t>
            </a:r>
            <a:endParaRPr lang="en-US" sz="1250" dirty="0"/>
          </a:p>
        </p:txBody>
      </p:sp>
      <p:sp>
        <p:nvSpPr>
          <p:cNvPr id="33" name="Text 27"/>
          <p:cNvSpPr/>
          <p:nvPr/>
        </p:nvSpPr>
        <p:spPr>
          <a:xfrm>
            <a:off x="457200" y="6080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team gets faster, sharper, and freer of single-person dependencies.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REVENUE INTELLIGENCE  |  CLOUD MIGRATION PROPOSAL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10789920" y="65653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292608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93192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4A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UNLOCKED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7F8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Scenarios that are impossible today — routine tomorrow.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2011680"/>
            <a:ext cx="914400" cy="502920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20116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4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06:00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463040" y="2011680"/>
            <a:ext cx="502920" cy="502920"/>
          </a:xfrm>
          <a:prstGeom prst="ellipse">
            <a:avLst/>
          </a:prstGeom>
          <a:solidFill>
            <a:srgbClr val="13243F"/>
          </a:solidFill>
          <a:ln w="12700">
            <a:solidFill>
              <a:srgbClr val="D4A437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336" y="2093976"/>
            <a:ext cx="338328" cy="3383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148840" y="19659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runs itself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2148840" y="24231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pulls all 7 hotels, parses every PDF, refreshes the warehouse before anyone opens email.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17920" y="2011680"/>
            <a:ext cx="914400" cy="502920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12" name="Text 9"/>
          <p:cNvSpPr/>
          <p:nvPr/>
        </p:nvSpPr>
        <p:spPr>
          <a:xfrm>
            <a:off x="6217920" y="20116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4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07:30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7315200" y="2011680"/>
            <a:ext cx="502920" cy="502920"/>
          </a:xfrm>
          <a:prstGeom prst="ellipse">
            <a:avLst/>
          </a:prstGeom>
          <a:solidFill>
            <a:srgbClr val="13243F"/>
          </a:solidFill>
          <a:ln w="12700">
            <a:solidFill>
              <a:srgbClr val="D4A437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7496" y="2093976"/>
            <a:ext cx="338328" cy="33832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001000" y="19659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Pickup-drop alert fires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8001000" y="24231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Arbour occupancy is forecast to slip below 80% next weekend. Revenue Manager gets a Slack ping with the exact stay-dates.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365760" y="3337560"/>
            <a:ext cx="914400" cy="502920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18" name="Text 14"/>
          <p:cNvSpPr/>
          <p:nvPr/>
        </p:nvSpPr>
        <p:spPr>
          <a:xfrm>
            <a:off x="365760" y="33375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4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09:00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1463040" y="3337560"/>
            <a:ext cx="502920" cy="502920"/>
          </a:xfrm>
          <a:prstGeom prst="ellipse">
            <a:avLst/>
          </a:prstGeom>
          <a:solidFill>
            <a:srgbClr val="13243F"/>
          </a:solidFill>
          <a:ln w="12700">
            <a:solidFill>
              <a:srgbClr val="D4A437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5336" y="3419856"/>
            <a:ext cx="338328" cy="33832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148840" y="32918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 huddle on a phone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2148840" y="37490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GM opens the dashboard on iPad on the way to the lobby. Live occupancy, OTA mix, ADR vs forecast.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217920" y="3337560"/>
            <a:ext cx="914400" cy="502920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24" name="Text 19"/>
          <p:cNvSpPr/>
          <p:nvPr/>
        </p:nvSpPr>
        <p:spPr>
          <a:xfrm>
            <a:off x="6217920" y="33375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4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11:00</a:t>
            </a:r>
            <a:endParaRPr lang="en-US" sz="1800" dirty="0"/>
          </a:p>
        </p:txBody>
      </p:sp>
      <p:sp>
        <p:nvSpPr>
          <p:cNvPr id="25" name="Shape 20"/>
          <p:cNvSpPr/>
          <p:nvPr/>
        </p:nvSpPr>
        <p:spPr>
          <a:xfrm>
            <a:off x="7315200" y="3337560"/>
            <a:ext cx="502920" cy="502920"/>
          </a:xfrm>
          <a:prstGeom prst="ellipse">
            <a:avLst/>
          </a:prstGeom>
          <a:solidFill>
            <a:srgbClr val="13243F"/>
          </a:solidFill>
          <a:ln w="12700">
            <a:solidFill>
              <a:srgbClr val="D4A437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7496" y="3419856"/>
            <a:ext cx="338328" cy="33832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001000" y="32918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pulls payable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8001000" y="37490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Accountant queries OTA commission by hotel for the previous month — same warehouse, no laptop, no PDF.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365760" y="4663440"/>
            <a:ext cx="914400" cy="502920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30" name="Text 24"/>
          <p:cNvSpPr/>
          <p:nvPr/>
        </p:nvSpPr>
        <p:spPr>
          <a:xfrm>
            <a:off x="365760" y="46634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4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15:00</a:t>
            </a:r>
            <a:endParaRPr lang="en-US" sz="1800" dirty="0"/>
          </a:p>
        </p:txBody>
      </p:sp>
      <p:sp>
        <p:nvSpPr>
          <p:cNvPr id="31" name="Shape 25"/>
          <p:cNvSpPr/>
          <p:nvPr/>
        </p:nvSpPr>
        <p:spPr>
          <a:xfrm>
            <a:off x="1463040" y="4663440"/>
            <a:ext cx="502920" cy="502920"/>
          </a:xfrm>
          <a:prstGeom prst="ellipse">
            <a:avLst/>
          </a:prstGeom>
          <a:solidFill>
            <a:srgbClr val="13243F"/>
          </a:solidFill>
          <a:ln w="12700">
            <a:solidFill>
              <a:srgbClr val="D4A437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5336" y="4745736"/>
            <a:ext cx="338328" cy="33832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2148840" y="4617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the 8th hotel</a:t>
            </a:r>
            <a:endParaRPr lang="en-US" sz="1500" dirty="0"/>
          </a:p>
        </p:txBody>
      </p:sp>
      <p:sp>
        <p:nvSpPr>
          <p:cNvPr id="34" name="Text 27"/>
          <p:cNvSpPr/>
          <p:nvPr/>
        </p:nvSpPr>
        <p:spPr>
          <a:xfrm>
            <a:off x="2148840" y="50749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property drops PDFs in the same folder shape. Zero code change. Tomorrow's dashboard includes it automatically.</a:t>
            </a:r>
            <a:endParaRPr lang="en-US" sz="1150" dirty="0"/>
          </a:p>
        </p:txBody>
      </p:sp>
      <p:sp>
        <p:nvSpPr>
          <p:cNvPr id="35" name="Shape 28"/>
          <p:cNvSpPr/>
          <p:nvPr/>
        </p:nvSpPr>
        <p:spPr>
          <a:xfrm>
            <a:off x="6217920" y="4663440"/>
            <a:ext cx="914400" cy="502920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36" name="Text 29"/>
          <p:cNvSpPr/>
          <p:nvPr/>
        </p:nvSpPr>
        <p:spPr>
          <a:xfrm>
            <a:off x="6217920" y="46634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4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22:00</a:t>
            </a:r>
            <a:endParaRPr lang="en-US" sz="1800" dirty="0"/>
          </a:p>
        </p:txBody>
      </p:sp>
      <p:sp>
        <p:nvSpPr>
          <p:cNvPr id="37" name="Shape 30"/>
          <p:cNvSpPr/>
          <p:nvPr/>
        </p:nvSpPr>
        <p:spPr>
          <a:xfrm>
            <a:off x="7315200" y="4663440"/>
            <a:ext cx="502920" cy="502920"/>
          </a:xfrm>
          <a:prstGeom prst="ellipse">
            <a:avLst/>
          </a:prstGeom>
          <a:solidFill>
            <a:srgbClr val="13243F"/>
          </a:solidFill>
          <a:ln w="12700">
            <a:solidFill>
              <a:srgbClr val="D4A437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7496" y="4745736"/>
            <a:ext cx="338328" cy="33832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8001000" y="4617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 hours — alert fires</a:t>
            </a:r>
            <a:endParaRPr lang="en-US" sz="1500" dirty="0"/>
          </a:p>
        </p:txBody>
      </p:sp>
      <p:sp>
        <p:nvSpPr>
          <p:cNvPr id="40" name="Text 32"/>
          <p:cNvSpPr/>
          <p:nvPr/>
        </p:nvSpPr>
        <p:spPr>
          <a:xfrm>
            <a:off x="8001000" y="50749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format change at one property breaks parsing. On-call gets emailed. Fix lands by morning. Team never noticed.</a:t>
            </a:r>
            <a:endParaRPr lang="en-US" sz="1150" dirty="0"/>
          </a:p>
        </p:txBody>
      </p:sp>
      <p:sp>
        <p:nvSpPr>
          <p:cNvPr id="41" name="Text 33"/>
          <p:cNvSpPr/>
          <p:nvPr/>
        </p:nvSpPr>
        <p:spPr>
          <a:xfrm>
            <a:off x="457200" y="619963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D4A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day in the life of an always-on platform.</a:t>
            </a:r>
            <a:endParaRPr lang="en-US" sz="1300" dirty="0"/>
          </a:p>
        </p:txBody>
      </p:sp>
      <p:sp>
        <p:nvSpPr>
          <p:cNvPr id="42" name="Text 34"/>
          <p:cNvSpPr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REVENUE INTELLIGENCE  |  CLOUD MIGRATION PROPOSAL</a:t>
            </a:r>
            <a:endParaRPr lang="en-US" sz="900" dirty="0"/>
          </a:p>
        </p:txBody>
      </p:sp>
      <p:sp>
        <p:nvSpPr>
          <p:cNvPr id="43" name="Text 35"/>
          <p:cNvSpPr/>
          <p:nvPr/>
        </p:nvSpPr>
        <p:spPr>
          <a:xfrm>
            <a:off x="10789920" y="65653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292608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93192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4A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4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weeks. Three phases. Production-grade at the end of week 6.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92608" y="2011680"/>
            <a:ext cx="374904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A1428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2011680"/>
            <a:ext cx="3749040" cy="1280160"/>
          </a:xfrm>
          <a:prstGeom prst="rect">
            <a:avLst/>
          </a:prstGeom>
          <a:solidFill>
            <a:srgbClr val="0A1428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210312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4A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755648" y="2194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400" kern="0" dirty="0">
                <a:solidFill>
                  <a:srgbClr val="F7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WAREHOUSE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755648" y="2651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D4A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34747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DuckDB to the cloud platform. Re-point dbt. Team starts using shared URL.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4617720"/>
            <a:ext cx="3200400" cy="0"/>
          </a:xfrm>
          <a:prstGeom prst="line">
            <a:avLst/>
          </a:prstGeom>
          <a:noFill/>
          <a:ln w="12700">
            <a:solidFill>
              <a:srgbClr val="D4A4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4663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DELIVERABLES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" y="502920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warehouse live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historical data migrated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access provisioned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206240" y="2011680"/>
            <a:ext cx="374904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A1428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06240" y="2011680"/>
            <a:ext cx="3749040" cy="1280160"/>
          </a:xfrm>
          <a:prstGeom prst="rect">
            <a:avLst/>
          </a:prstGeom>
          <a:solidFill>
            <a:srgbClr val="0A1428"/>
          </a:solidFill>
          <a:ln/>
        </p:spPr>
      </p:sp>
      <p:sp>
        <p:nvSpPr>
          <p:cNvPr id="16" name="Text 14"/>
          <p:cNvSpPr/>
          <p:nvPr/>
        </p:nvSpPr>
        <p:spPr>
          <a:xfrm>
            <a:off x="4480560" y="210312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4A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5669280" y="2194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400" kern="0" dirty="0">
                <a:solidFill>
                  <a:srgbClr val="F7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ON CLOUD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669280" y="2651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D4A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3–4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80560" y="34747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Airflow. Convert daily batch to scheduled DAG. Wire failure alerts to Slack.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480560" y="4617720"/>
            <a:ext cx="3200400" cy="0"/>
          </a:xfrm>
          <a:prstGeom prst="line">
            <a:avLst/>
          </a:prstGeom>
          <a:noFill/>
          <a:ln w="12700">
            <a:solidFill>
              <a:srgbClr val="D4A4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0" y="4663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DELIVERABLES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480560" y="502920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DAGs running daily at 06:00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alerts on failure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backfill enabled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119872" y="2011680"/>
            <a:ext cx="374904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A1428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19872" y="2011680"/>
            <a:ext cx="3749040" cy="1280160"/>
          </a:xfrm>
          <a:prstGeom prst="rect">
            <a:avLst/>
          </a:prstGeom>
          <a:solidFill>
            <a:srgbClr val="0A1428"/>
          </a:solidFill>
          <a:ln/>
        </p:spPr>
      </p:sp>
      <p:sp>
        <p:nvSpPr>
          <p:cNvPr id="25" name="Text 23"/>
          <p:cNvSpPr/>
          <p:nvPr/>
        </p:nvSpPr>
        <p:spPr>
          <a:xfrm>
            <a:off x="8394192" y="210312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4A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6000" dirty="0"/>
          </a:p>
        </p:txBody>
      </p:sp>
      <p:sp>
        <p:nvSpPr>
          <p:cNvPr id="26" name="Text 24"/>
          <p:cNvSpPr/>
          <p:nvPr/>
        </p:nvSpPr>
        <p:spPr>
          <a:xfrm>
            <a:off x="9582912" y="2194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400" kern="0" dirty="0">
                <a:solidFill>
                  <a:srgbClr val="F7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+ ALERTS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582912" y="2651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D4A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5–6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394192" y="34747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role-specific dashboards. Wire automated KPI alerts. Hand over to the team.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394192" y="4617720"/>
            <a:ext cx="3200400" cy="0"/>
          </a:xfrm>
          <a:prstGeom prst="line">
            <a:avLst/>
          </a:prstGeom>
          <a:noFill/>
          <a:ln w="12700">
            <a:solidFill>
              <a:srgbClr val="D4A43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94192" y="4663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DELIVERABLES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394192" y="502920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Manager dashboard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 dashboard per property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A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Pickup-drop alert active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57200" y="6355080"/>
            <a:ext cx="11247120" cy="36576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33" name="Shape 31"/>
          <p:cNvSpPr/>
          <p:nvPr/>
        </p:nvSpPr>
        <p:spPr>
          <a:xfrm>
            <a:off x="384048" y="6318504"/>
            <a:ext cx="146304" cy="146304"/>
          </a:xfrm>
          <a:prstGeom prst="ellipse">
            <a:avLst/>
          </a:prstGeom>
          <a:solidFill>
            <a:srgbClr val="D4A437"/>
          </a:solidFill>
          <a:ln/>
        </p:spPr>
      </p:sp>
      <p:sp>
        <p:nvSpPr>
          <p:cNvPr id="34" name="Shape 32"/>
          <p:cNvSpPr/>
          <p:nvPr/>
        </p:nvSpPr>
        <p:spPr>
          <a:xfrm>
            <a:off x="11631168" y="6318504"/>
            <a:ext cx="146304" cy="146304"/>
          </a:xfrm>
          <a:prstGeom prst="ellipse">
            <a:avLst/>
          </a:prstGeom>
          <a:solidFill>
            <a:srgbClr val="D4A437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REVENUE INTELLIGENCE  |  CLOUD MIGRATION PROPOSAL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789920" y="65653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57200"/>
            <a:ext cx="164592" cy="292608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" y="438912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4A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7F8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Approve cloud migration. Unlock the platform.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small, time-boxed investment for a platform the team can rely on for years.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743200"/>
            <a:ext cx="3291840" cy="1737360"/>
          </a:xfrm>
          <a:prstGeom prst="rect">
            <a:avLst/>
          </a:prstGeom>
          <a:solidFill>
            <a:srgbClr val="13243F"/>
          </a:solidFill>
          <a:ln w="12700">
            <a:solidFill>
              <a:srgbClr val="D4A437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7889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4A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822960" y="3703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F7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4069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approval to production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34840" y="2743200"/>
            <a:ext cx="3291840" cy="1737360"/>
          </a:xfrm>
          <a:prstGeom prst="rect">
            <a:avLst/>
          </a:prstGeom>
          <a:solidFill>
            <a:srgbClr val="13243F"/>
          </a:solidFill>
          <a:ln w="12700">
            <a:solidFill>
              <a:srgbClr val="D4A437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34840" y="27889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4A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1×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4434840" y="3703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F7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EFFORT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34840" y="4069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once, runs forever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2743200"/>
            <a:ext cx="3291840" cy="1737360"/>
          </a:xfrm>
          <a:prstGeom prst="rect">
            <a:avLst/>
          </a:prstGeom>
          <a:solidFill>
            <a:srgbClr val="13243F"/>
          </a:solidFill>
          <a:ln w="12700">
            <a:solidFill>
              <a:srgbClr val="D4A437"/>
            </a:solidFill>
            <a:prstDash val="solid"/>
          </a:ln>
          <a:effectLst>
            <a:outerShdw sx="100000" sy="100000" kx="0" ky="0" algn="bl" rotWithShape="0" blurRad="228600" dist="50800" dir="54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046720" y="27889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4A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10+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8046720" y="3703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F7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 SUPPORTED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46720" y="4069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architectural change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800600"/>
            <a:ext cx="10881360" cy="1417320"/>
          </a:xfrm>
          <a:prstGeom prst="rect">
            <a:avLst/>
          </a:prstGeom>
          <a:solidFill>
            <a:srgbClr val="13243F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4800600"/>
            <a:ext cx="91440" cy="1417320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892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D4A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YOU TODAY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5257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to migrate to a cloud data warehouse and adopt Airflow as the orchestrator. 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it — implementation, deployment, and team rollout are already scoped end-to-end.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D4A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 the data is brilliant — and trapped. Let's set it free.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+ Airflow Migration Proposal</dc:title>
  <dc:subject>PptxGenJS Presentation</dc:subject>
  <dc:creator>Revenue Intelligence Team</dc:creator>
  <cp:lastModifiedBy>Revenue Intelligence Team</cp:lastModifiedBy>
  <cp:revision>1</cp:revision>
  <dcterms:created xsi:type="dcterms:W3CDTF">2026-06-11T04:03:18Z</dcterms:created>
  <dcterms:modified xsi:type="dcterms:W3CDTF">2026-06-11T04:03:18Z</dcterms:modified>
</cp:coreProperties>
</file>