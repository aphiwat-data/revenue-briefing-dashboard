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0" cy="411480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 ·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554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Pipeline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6012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scattered PDFs to a production data platform.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7490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4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4348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0" y="3749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4000" dirty="0"/>
          </a:p>
        </p:txBody>
      </p:sp>
      <p:sp>
        <p:nvSpPr>
          <p:cNvPr id="9" name="Text 6"/>
          <p:cNvSpPr/>
          <p:nvPr/>
        </p:nvSpPr>
        <p:spPr>
          <a:xfrm>
            <a:off x="7772400" y="3840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0" y="4160520"/>
            <a:ext cx="45720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42976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 of work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0120" y="5943600"/>
            <a:ext cx="365760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00  ·  STARTING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8229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hotels. Stacks of PDFs.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source of truth.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0" cy="6858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RS02, RS03, ST14 reports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35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PDF formats per hotel, every 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0" cy="6858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aggregation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opens each PDF and types into a spreadsheet.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0" cy="6858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never align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totals depending on who pulled them.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0" cy="6858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kept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641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snapshot is gone the moment today's run starts.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2834640"/>
            <a:ext cx="347472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4928" y="2944368"/>
            <a:ext cx="347472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3054096"/>
            <a:ext cx="347472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44384" y="3163824"/>
            <a:ext cx="347472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54112" y="3273552"/>
            <a:ext cx="347472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2" y="3730752"/>
            <a:ext cx="914400" cy="9144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54112" y="4828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54112" y="5148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7 hotels × every day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 · 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the parsers.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Python modules that read every PDF format, every layout, every edge case.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8348" y="2468880"/>
            <a:ext cx="3611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348" y="2468880"/>
            <a:ext cx="3611880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" y="24688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4108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Reservations parser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74820" y="2468880"/>
            <a:ext cx="3611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4820" y="2468880"/>
            <a:ext cx="3611880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4274820" y="24688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4058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Cancellations parser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51292" y="2468880"/>
            <a:ext cx="3611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1292" y="2468880"/>
            <a:ext cx="3611880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8051292" y="24688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7052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on-book parser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8388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Reservations parser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8388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every booking — rsvn_no, dates, rooms, pax, rate, revenue, agent, market.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" y="5120640"/>
            <a:ext cx="914400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" y="5212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aggregation · Document-date detection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9486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Cancellations parser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94860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cancelled reservation with cancel date, lead days, lost revenue.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94860" y="5120640"/>
            <a:ext cx="914400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4860" y="5212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Format-agnostic across all 7 properties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71332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on-book parser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71332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on-book snapshot by stay-date — rooms reserved, revenue, market segment.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71332" y="5120640"/>
            <a:ext cx="914400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71332" y="5212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for occupancy + RevPAR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every PDF becomes structured rows, automatically.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  ·  THE WAREHOUSE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parsed rows land in DuckDB.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raw fact tables. Daily-snapshot primary keys. One file, queryable like Postgres.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06040"/>
            <a:ext cx="9144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74904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749040"/>
            <a:ext cx="9144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89204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892040"/>
            <a:ext cx="91440" cy="1005840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62072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fact_reservations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0020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(rsvn_no, hotel_name, report_date)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2788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booking facts. Same booking on different report dates = different rows (snapshot model).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05072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002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fact_cancellations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60020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(rsvn_no, hotel_name, report_date)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858000" y="3931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cancellation, with cancel reason, lead days, lost revenue.</a:t>
            </a:r>
            <a:endParaRPr lang="en-US" sz="12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48072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fact_market_onbook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60020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(hotel_name, stay_date, market, report_date)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858000" y="5074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on-book by stay-date and market — drives occupancy, RevPAR, pace.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DuckDB file. Six months of history. Queryable from any SQL client.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 ·  TRANSFORMATION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analytics with dbt.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layers. Each layer cleaner than the one below.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606040"/>
            <a:ext cx="2606040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606040"/>
            <a:ext cx="2606040" cy="54864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fact_reservations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fact_cancellations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fact_market_onbook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224028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tables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4069080"/>
            <a:ext cx="274320" cy="274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291840" y="2606040"/>
            <a:ext cx="2606040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2606040"/>
            <a:ext cx="2606040" cy="54864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6" name="Text 13"/>
          <p:cNvSpPr/>
          <p:nvPr/>
        </p:nvSpPr>
        <p:spPr>
          <a:xfrm>
            <a:off x="329184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3383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stg_reservations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stg_cancellations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stg_market_onbook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74720" y="5029200"/>
            <a:ext cx="224028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· OTA brand mapping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069080"/>
            <a:ext cx="274320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263640" y="2606040"/>
            <a:ext cx="2606040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63640" y="2606040"/>
            <a:ext cx="2606040" cy="54864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23" name="Text 19"/>
          <p:cNvSpPr/>
          <p:nvPr/>
        </p:nvSpPr>
        <p:spPr>
          <a:xfrm>
            <a:off x="626364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446520" y="3383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int_reservations_enriched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46520" y="5029200"/>
            <a:ext cx="224028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commission %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commission amount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net revenue</a:t>
            </a:r>
            <a:endParaRPr lang="en-US" sz="10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4069080"/>
            <a:ext cx="274320" cy="27432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9235440" y="2606040"/>
            <a:ext cx="260604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235440" y="2606040"/>
            <a:ext cx="260604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5"/>
          <p:cNvSpPr/>
          <p:nvPr/>
        </p:nvSpPr>
        <p:spPr>
          <a:xfrm>
            <a:off x="923544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9418320" y="3383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mart_bookings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mart_channel_monthly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mart_onbook_daily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mart_pickup_daily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9418320" y="5029200"/>
            <a:ext cx="224028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418320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KPIs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layer documented, tested, and rebuilt nightly.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 ·  THE MONEY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 commission, calculated — not guessed.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OTA × per hotel commission table. Net revenue reconciles exactly.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net_revenue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gross_revenue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 ( gross_revenue × commission_pct 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475488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commission_pct  =  ota_brand × hotel_name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rows  —  10 OTA brands  ×  7 hotels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negotiated by each property.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60604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046720" y="2770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BRANDS MAPPED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 · Booking · Expedia · Ctrip · 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3538728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63016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04672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COMMISSION COVERAGE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3995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OTA booking has a rate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4471416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56285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฿50.9M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046720" y="4636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SURFACED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0" y="49286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 months across all hotels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5404104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549554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฿289.2M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046720" y="55686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COMPUTED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0" y="5861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less commission, reconciled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 ·  TIME-SERIES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snapshots — pace, pickup, history.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booking captured on every report day → we see how forecasts evolve.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1033272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127248"/>
            <a:ext cx="146304" cy="146304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3368" y="3127248"/>
            <a:ext cx="146304" cy="146304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217932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85488" y="3127248"/>
            <a:ext cx="146304" cy="146304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390144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07608" y="3127248"/>
            <a:ext cx="146304" cy="146304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9728" y="3127248"/>
            <a:ext cx="146304" cy="146304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734568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51848" y="3127248"/>
            <a:ext cx="146304" cy="146304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906780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73968" y="3127248"/>
            <a:ext cx="146304" cy="146304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743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DAY  ·  EVERY BOOKING  ·  ONE ROW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" y="4251960"/>
            <a:ext cx="2697480" cy="1600200"/>
          </a:xfrm>
          <a:prstGeom prst="rect">
            <a:avLst/>
          </a:prstGeom>
          <a:solidFill>
            <a:srgbClr val="F4F4F2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251960"/>
            <a:ext cx="269748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89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mart_bookings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1792" y="4846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booking fact, deduped to first-seen — true production date.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00984" y="4251960"/>
            <a:ext cx="2697480" cy="1600200"/>
          </a:xfrm>
          <a:prstGeom prst="rect">
            <a:avLst/>
          </a:prstGeom>
          <a:solidFill>
            <a:srgbClr val="F4F4F2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00984" y="4251960"/>
            <a:ext cx="269748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3483864" y="4389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mart_channel_monthly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83864" y="4846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scorecard: bookings, commission %, ADR by hotel × month.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4251960"/>
            <a:ext cx="2697480" cy="1600200"/>
          </a:xfrm>
          <a:prstGeom prst="rect">
            <a:avLst/>
          </a:prstGeom>
          <a:solidFill>
            <a:srgbClr val="F4F4F2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4251960"/>
            <a:ext cx="269748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3" name="Text 31"/>
          <p:cNvSpPr/>
          <p:nvPr/>
        </p:nvSpPr>
        <p:spPr>
          <a:xfrm>
            <a:off x="6345936" y="4389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mart_onbook_daily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45936" y="4846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+ RevPAR by stay-date using latest snapshot.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25128" y="4251960"/>
            <a:ext cx="2697480" cy="1600200"/>
          </a:xfrm>
          <a:prstGeom prst="rect">
            <a:avLst/>
          </a:prstGeom>
          <a:solidFill>
            <a:srgbClr val="F4F4F2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25128" y="4251960"/>
            <a:ext cx="269748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7" name="Text 35"/>
          <p:cNvSpPr/>
          <p:nvPr/>
        </p:nvSpPr>
        <p:spPr>
          <a:xfrm>
            <a:off x="9208008" y="4389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mart_pickup_daily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208008" y="4846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over snapshots → daily pickup of rooms and revenue.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Pace and pickup are now first-class — not derived from screenshots.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 ·  TRUST &amp; TRANSPARENCY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Validated, documented, queryable.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traceable. Every table self-describing. Every model tested.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6060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182112"/>
            <a:ext cx="6400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83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Hotel-by-hotel row-count match vs PDF grand totals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reconciles within ฿1 per file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capacity cross-checked against external ADR report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OTA commission coverage validated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6060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82112"/>
            <a:ext cx="6400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383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column descriptions written in dbt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as COMMENT ON in DuckDB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DBeaver and any SQL client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PROJECT_REPORT.md — end-to-end narrative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26060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66760" y="3182112"/>
            <a:ext cx="6400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3383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loads — re-running is safe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model preserves daily history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Single-command refresh: run_pipeline.bat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under version control (git)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landed.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scattered PDFs to a production data platform.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365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10058400" y="2148840"/>
            <a:ext cx="1371600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3657600" cy="1417320"/>
          </a:xfrm>
          <a:prstGeom prst="rect">
            <a:avLst/>
          </a:prstGeom>
          <a:solidFill>
            <a:srgbClr val="0A0A0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535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788920"/>
            <a:ext cx="3657600" cy="1417320"/>
          </a:xfrm>
          <a:prstGeom prst="rect">
            <a:avLst/>
          </a:prstGeom>
          <a:solidFill>
            <a:srgbClr val="0A0A0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9535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53,740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2519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PARSED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788920"/>
            <a:ext cx="3657600" cy="1417320"/>
          </a:xfrm>
          <a:prstGeom prst="rect">
            <a:avLst/>
          </a:prstGeom>
          <a:solidFill>
            <a:srgbClr val="0A0A0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9535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฿340M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0467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3657600" cy="1417320"/>
          </a:xfrm>
          <a:prstGeom prst="rect">
            <a:avLst/>
          </a:prstGeom>
          <a:solidFill>
            <a:srgbClr val="0A0A0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079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฿50.9M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VISIBLE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4343400"/>
            <a:ext cx="3657600" cy="1417320"/>
          </a:xfrm>
          <a:prstGeom prst="rect">
            <a:avLst/>
          </a:prstGeom>
          <a:solidFill>
            <a:srgbClr val="0A0A0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45079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25196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4343400"/>
            <a:ext cx="3657600" cy="1417320"/>
          </a:xfrm>
          <a:prstGeom prst="rect">
            <a:avLst/>
          </a:prstGeom>
          <a:solidFill>
            <a:srgbClr val="0A0A0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5079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180+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804672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HISTORY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complete. Platform proven. Numbers reconciled.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running it to operating it.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is done. Next: make it always-on and team-accessible.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97480"/>
            <a:ext cx="5303520" cy="3017520"/>
          </a:xfrm>
          <a:prstGeom prst="rect">
            <a:avLst/>
          </a:prstGeom>
          <a:solidFill>
            <a:srgbClr val="F4F4F2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260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warehouse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37490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DuckDB → cloud. Multi-user. Auto-backup. Mobile + tablet access. Shared URL for the whole team.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5303520"/>
            <a:ext cx="914400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376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PROPOSED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2697480"/>
            <a:ext cx="5303520" cy="3017520"/>
          </a:xfrm>
          <a:prstGeom prst="rect">
            <a:avLst/>
          </a:prstGeom>
          <a:solidFill>
            <a:srgbClr val="F4F4F2"/>
          </a:solidFill>
          <a:ln w="19050">
            <a:solidFill>
              <a:srgbClr val="0A0A0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9260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Airflow orchestration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629400" y="37490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Self-running daily. Auto-retry on failure. Slack alerts. One-click backfill. Full audit trail.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629400" y="5303520"/>
            <a:ext cx="914400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29400" y="5376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PROPOSED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is here. The platform is the next chapter.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PIPELINE  ·  0 → 100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789920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Pipeline — Journey 0 to 100</dc:title>
  <dc:subject>PptxGenJS Presentation</dc:subject>
  <dc:creator>Revenue Intelligence Team</dc:creator>
  <cp:lastModifiedBy>Revenue Intelligence Team</cp:lastModifiedBy>
  <cp:revision>1</cp:revision>
  <dcterms:created xsi:type="dcterms:W3CDTF">2026-06-11T06:35:22Z</dcterms:created>
  <dcterms:modified xsi:type="dcterms:W3CDTF">2026-06-11T06:35:22Z</dcterms:modified>
</cp:coreProperties>
</file>